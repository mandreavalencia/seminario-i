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" charset="1" panose="00000500000000000000"/>
      <p:regular r:id="rId20"/>
    </p:embeddedFont>
    <p:embeddedFont>
      <p:font typeface="Bree Serif" charset="1" panose="02000503040000020004"/>
      <p:regular r:id="rId21"/>
    </p:embeddedFont>
    <p:embeddedFont>
      <p:font typeface="Helios" charset="1" panose="020B05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64839" y="9559636"/>
            <a:ext cx="15496429" cy="1311872"/>
            <a:chOff x="0" y="0"/>
            <a:chExt cx="5772215" cy="4886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72215" cy="488655"/>
            </a:xfrm>
            <a:custGeom>
              <a:avLst/>
              <a:gdLst/>
              <a:ahLst/>
              <a:cxnLst/>
              <a:rect r="r" b="b" t="t" l="l"/>
              <a:pathLst>
                <a:path h="488655" w="5772215">
                  <a:moveTo>
                    <a:pt x="0" y="0"/>
                  </a:moveTo>
                  <a:lnTo>
                    <a:pt x="5772215" y="0"/>
                  </a:lnTo>
                  <a:lnTo>
                    <a:pt x="5772215" y="488655"/>
                  </a:lnTo>
                  <a:lnTo>
                    <a:pt x="0" y="488655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772215" cy="517230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08079" y="-1454727"/>
            <a:ext cx="15181998" cy="2182091"/>
            <a:chOff x="0" y="0"/>
            <a:chExt cx="565509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55093" cy="812800"/>
            </a:xfrm>
            <a:custGeom>
              <a:avLst/>
              <a:gdLst/>
              <a:ahLst/>
              <a:cxnLst/>
              <a:rect r="r" b="b" t="t" l="l"/>
              <a:pathLst>
                <a:path h="812800" w="5655093">
                  <a:moveTo>
                    <a:pt x="0" y="0"/>
                  </a:moveTo>
                  <a:lnTo>
                    <a:pt x="5655093" y="0"/>
                  </a:lnTo>
                  <a:lnTo>
                    <a:pt x="565509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655093" cy="84137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23127" y="-462348"/>
            <a:ext cx="7283617" cy="6568499"/>
            <a:chOff x="0" y="0"/>
            <a:chExt cx="9711490" cy="8757998"/>
          </a:xfrm>
        </p:grpSpPr>
        <p:sp>
          <p:nvSpPr>
            <p:cNvPr name="Freeform 9" id="9"/>
            <p:cNvSpPr/>
            <p:nvPr/>
          </p:nvSpPr>
          <p:spPr>
            <a:xfrm flipH="false" flipV="false" rot="-10800000">
              <a:off x="0" y="0"/>
              <a:ext cx="9711490" cy="8757998"/>
            </a:xfrm>
            <a:custGeom>
              <a:avLst/>
              <a:gdLst/>
              <a:ahLst/>
              <a:cxnLst/>
              <a:rect r="r" b="b" t="t" l="l"/>
              <a:pathLst>
                <a:path h="8757998" w="9711490">
                  <a:moveTo>
                    <a:pt x="0" y="0"/>
                  </a:moveTo>
                  <a:lnTo>
                    <a:pt x="9711490" y="0"/>
                  </a:lnTo>
                  <a:lnTo>
                    <a:pt x="9711490" y="8757998"/>
                  </a:lnTo>
                  <a:lnTo>
                    <a:pt x="0" y="8757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0" id="10"/>
            <p:cNvSpPr/>
            <p:nvPr/>
          </p:nvSpPr>
          <p:spPr>
            <a:xfrm>
              <a:off x="3542825" y="182157"/>
              <a:ext cx="4651057" cy="4651057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1171484" y="182157"/>
              <a:ext cx="2382254" cy="2382254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077548" y="6232891"/>
            <a:ext cx="8132903" cy="132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6"/>
              </a:lnSpc>
            </a:pPr>
            <a:r>
              <a:rPr lang="en-US" sz="2525">
                <a:solidFill>
                  <a:srgbClr val="262262"/>
                </a:solidFill>
                <a:latin typeface="Montserrat"/>
                <a:ea typeface="Montserrat"/>
                <a:cs typeface="Montserrat"/>
                <a:sym typeface="Montserrat"/>
              </a:rPr>
              <a:t>Luis Alejandro Solis</a:t>
            </a:r>
          </a:p>
          <a:p>
            <a:pPr algn="ctr">
              <a:lnSpc>
                <a:spcPts val="3536"/>
              </a:lnSpc>
            </a:pPr>
            <a:r>
              <a:rPr lang="en-US" sz="2525">
                <a:solidFill>
                  <a:srgbClr val="262262"/>
                </a:solidFill>
                <a:latin typeface="Montserrat"/>
                <a:ea typeface="Montserrat"/>
                <a:cs typeface="Montserrat"/>
                <a:sym typeface="Montserrat"/>
              </a:rPr>
              <a:t>Michell Andrea Valencia</a:t>
            </a:r>
          </a:p>
          <a:p>
            <a:pPr algn="ctr">
              <a:lnSpc>
                <a:spcPts val="3536"/>
              </a:lnSpc>
            </a:pPr>
            <a:r>
              <a:rPr lang="en-US" sz="2525">
                <a:solidFill>
                  <a:srgbClr val="262262"/>
                </a:solidFill>
                <a:latin typeface="Montserrat"/>
                <a:ea typeface="Montserrat"/>
                <a:cs typeface="Montserrat"/>
                <a:sym typeface="Montserrat"/>
              </a:rPr>
              <a:t>Ana Lorena Vente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17961" y="4291282"/>
            <a:ext cx="13848372" cy="196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28"/>
              </a:lnSpc>
            </a:pPr>
            <a:r>
              <a:rPr lang="en-US" sz="14582" spc="1618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TURIN CLEAN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85212" y="3556813"/>
            <a:ext cx="10644611" cy="74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8"/>
              </a:lnSpc>
            </a:pPr>
            <a:r>
              <a:rPr lang="en-US" sz="5563" spc="617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SOFTWARE</a:t>
            </a:r>
          </a:p>
        </p:txBody>
      </p:sp>
      <p:grpSp>
        <p:nvGrpSpPr>
          <p:cNvPr name="Group 15" id="15"/>
          <p:cNvGrpSpPr/>
          <p:nvPr/>
        </p:nvGrpSpPr>
        <p:grpSpPr>
          <a:xfrm rot="-10800000">
            <a:off x="-200698" y="4523504"/>
            <a:ext cx="7039117" cy="6348004"/>
            <a:chOff x="0" y="0"/>
            <a:chExt cx="9385490" cy="8464005"/>
          </a:xfrm>
        </p:grpSpPr>
        <p:sp>
          <p:nvSpPr>
            <p:cNvPr name="Freeform 16" id="16"/>
            <p:cNvSpPr/>
            <p:nvPr/>
          </p:nvSpPr>
          <p:spPr>
            <a:xfrm flipH="false" flipV="false" rot="-10800000">
              <a:off x="0" y="0"/>
              <a:ext cx="9385490" cy="8464005"/>
            </a:xfrm>
            <a:custGeom>
              <a:avLst/>
              <a:gdLst/>
              <a:ahLst/>
              <a:cxnLst/>
              <a:rect r="r" b="b" t="t" l="l"/>
              <a:pathLst>
                <a:path h="8464005" w="9385490">
                  <a:moveTo>
                    <a:pt x="0" y="0"/>
                  </a:moveTo>
                  <a:lnTo>
                    <a:pt x="9385490" y="0"/>
                  </a:lnTo>
                  <a:lnTo>
                    <a:pt x="9385490" y="8464005"/>
                  </a:lnTo>
                  <a:lnTo>
                    <a:pt x="0" y="8464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7" id="17"/>
            <p:cNvSpPr/>
            <p:nvPr/>
          </p:nvSpPr>
          <p:spPr>
            <a:xfrm>
              <a:off x="3423897" y="176042"/>
              <a:ext cx="4494928" cy="4494928"/>
            </a:xfrm>
            <a:prstGeom prst="line">
              <a:avLst/>
            </a:prstGeom>
            <a:ln cap="flat" w="84973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1132159" y="176042"/>
              <a:ext cx="2302285" cy="2302285"/>
            </a:xfrm>
            <a:prstGeom prst="line">
              <a:avLst/>
            </a:prstGeom>
            <a:ln cap="flat" w="84973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09436" y="1563878"/>
            <a:ext cx="6411913" cy="7545723"/>
            <a:chOff x="0" y="0"/>
            <a:chExt cx="1894769" cy="22298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4769" cy="2229818"/>
            </a:xfrm>
            <a:custGeom>
              <a:avLst/>
              <a:gdLst/>
              <a:ahLst/>
              <a:cxnLst/>
              <a:rect r="r" b="b" t="t" l="l"/>
              <a:pathLst>
                <a:path h="2229818" w="1894769">
                  <a:moveTo>
                    <a:pt x="0" y="0"/>
                  </a:moveTo>
                  <a:lnTo>
                    <a:pt x="1894769" y="0"/>
                  </a:lnTo>
                  <a:lnTo>
                    <a:pt x="1894769" y="2229818"/>
                  </a:lnTo>
                  <a:lnTo>
                    <a:pt x="0" y="2229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6226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94769" cy="2258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33715" y="1776266"/>
            <a:ext cx="5963354" cy="7082587"/>
            <a:chOff x="0" y="0"/>
            <a:chExt cx="1036598" cy="1231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6598" cy="1231152"/>
            </a:xfrm>
            <a:custGeom>
              <a:avLst/>
              <a:gdLst/>
              <a:ahLst/>
              <a:cxnLst/>
              <a:rect r="r" b="b" t="t" l="l"/>
              <a:pathLst>
                <a:path h="1231152" w="1036598">
                  <a:moveTo>
                    <a:pt x="0" y="0"/>
                  </a:moveTo>
                  <a:lnTo>
                    <a:pt x="1036598" y="0"/>
                  </a:lnTo>
                  <a:lnTo>
                    <a:pt x="1036598" y="1231152"/>
                  </a:lnTo>
                  <a:lnTo>
                    <a:pt x="0" y="1231152"/>
                  </a:lnTo>
                  <a:close/>
                </a:path>
              </a:pathLst>
            </a:custGeom>
            <a:blipFill>
              <a:blip r:embed="rId2"/>
              <a:stretch>
                <a:fillRect l="-39132" t="0" r="-39132" b="0"/>
              </a:stretch>
            </a:blipFill>
            <a:ln w="133350" cap="sq">
              <a:solidFill>
                <a:srgbClr val="1B75BC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94523" y="6191682"/>
            <a:ext cx="7821644" cy="513781"/>
            <a:chOff x="0" y="0"/>
            <a:chExt cx="1954510" cy="128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4510" cy="128386"/>
            </a:xfrm>
            <a:custGeom>
              <a:avLst/>
              <a:gdLst/>
              <a:ahLst/>
              <a:cxnLst/>
              <a:rect r="r" b="b" t="t" l="l"/>
              <a:pathLst>
                <a:path h="128386" w="1954510">
                  <a:moveTo>
                    <a:pt x="0" y="0"/>
                  </a:moveTo>
                  <a:lnTo>
                    <a:pt x="1954510" y="0"/>
                  </a:lnTo>
                  <a:lnTo>
                    <a:pt x="1954510" y="128386"/>
                  </a:lnTo>
                  <a:lnTo>
                    <a:pt x="0" y="128386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954510" cy="156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94523" y="7088982"/>
            <a:ext cx="8004572" cy="224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Nuestro proyecto surge como parte del curso Seminario I y tiene como objetivo desarrollar una aplicación web moderna que permita poner en práctica principios reales de ingeniería de software: desde la definición de una arquitectura clara, hasta la construcción de una interfaz funcional y un backend capaz de manejar datos.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4523" y="4981088"/>
            <a:ext cx="9483419" cy="95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114"/>
              </a:lnSpc>
            </a:pPr>
            <a:r>
              <a:rPr lang="en-US" sz="7411" spc="822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INTRODUCCIÓN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545" y="1690024"/>
            <a:ext cx="8051814" cy="6906952"/>
            <a:chOff x="0" y="0"/>
            <a:chExt cx="1247437" cy="1070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7437" cy="1070068"/>
            </a:xfrm>
            <a:custGeom>
              <a:avLst/>
              <a:gdLst/>
              <a:ahLst/>
              <a:cxnLst/>
              <a:rect r="r" b="b" t="t" l="l"/>
              <a:pathLst>
                <a:path h="1070068" w="1247437">
                  <a:moveTo>
                    <a:pt x="0" y="0"/>
                  </a:moveTo>
                  <a:lnTo>
                    <a:pt x="1247437" y="0"/>
                  </a:lnTo>
                  <a:lnTo>
                    <a:pt x="1247437" y="1070068"/>
                  </a:lnTo>
                  <a:lnTo>
                    <a:pt x="0" y="1070068"/>
                  </a:lnTo>
                  <a:close/>
                </a:path>
              </a:pathLst>
            </a:custGeom>
            <a:blipFill>
              <a:blip r:embed="rId2"/>
              <a:stretch>
                <a:fillRect l="-37755" t="0" r="-37755" b="0"/>
              </a:stretch>
            </a:blipFill>
            <a:ln w="114300" cap="sq">
              <a:solidFill>
                <a:srgbClr val="1B75B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67261" y="2899707"/>
            <a:ext cx="8004572" cy="513781"/>
            <a:chOff x="0" y="0"/>
            <a:chExt cx="2000221" cy="128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00221" cy="128386"/>
            </a:xfrm>
            <a:custGeom>
              <a:avLst/>
              <a:gdLst/>
              <a:ahLst/>
              <a:cxnLst/>
              <a:rect r="r" b="b" t="t" l="l"/>
              <a:pathLst>
                <a:path h="128386" w="2000221">
                  <a:moveTo>
                    <a:pt x="0" y="0"/>
                  </a:moveTo>
                  <a:lnTo>
                    <a:pt x="2000221" y="0"/>
                  </a:lnTo>
                  <a:lnTo>
                    <a:pt x="2000221" y="128386"/>
                  </a:lnTo>
                  <a:lnTo>
                    <a:pt x="0" y="128386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00221" cy="156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5400000">
            <a:off x="8816111" y="-11455422"/>
            <a:ext cx="1278988" cy="23086583"/>
            <a:chOff x="0" y="0"/>
            <a:chExt cx="476406" cy="85994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6406" cy="8599446"/>
            </a:xfrm>
            <a:custGeom>
              <a:avLst/>
              <a:gdLst/>
              <a:ahLst/>
              <a:cxnLst/>
              <a:rect r="r" b="b" t="t" l="l"/>
              <a:pathLst>
                <a:path h="8599446" w="476406">
                  <a:moveTo>
                    <a:pt x="0" y="0"/>
                  </a:moveTo>
                  <a:lnTo>
                    <a:pt x="476406" y="0"/>
                  </a:lnTo>
                  <a:lnTo>
                    <a:pt x="476406" y="8599446"/>
                  </a:lnTo>
                  <a:lnTo>
                    <a:pt x="0" y="8599446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76406" cy="862802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5400000">
            <a:off x="12983301" y="-1928785"/>
            <a:ext cx="6444000" cy="8204166"/>
          </a:xfrm>
          <a:custGeom>
            <a:avLst/>
            <a:gdLst/>
            <a:ahLst/>
            <a:cxnLst/>
            <a:rect r="r" b="b" t="t" l="l"/>
            <a:pathLst>
              <a:path h="8204166" w="6444000">
                <a:moveTo>
                  <a:pt x="0" y="8204167"/>
                </a:moveTo>
                <a:lnTo>
                  <a:pt x="6444000" y="8204167"/>
                </a:lnTo>
                <a:lnTo>
                  <a:pt x="6444000" y="0"/>
                </a:lnTo>
                <a:lnTo>
                  <a:pt x="0" y="0"/>
                </a:lnTo>
                <a:lnTo>
                  <a:pt x="0" y="820416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67261" y="3811911"/>
            <a:ext cx="8107033" cy="26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La capa cliente está desarrollada con React, utilizando una arquitectura basada en componentes, donde la interfaz se construye a partir de piezas reutilizables, modulares y fáciles de mantener.</a:t>
            </a:r>
          </a:p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 Esta organización permite escalar la aplicación de form</a:t>
            </a: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a ordenada, ya que cada componente encapsula su propia lógica, estilos y comportamiento.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67261" y="1832899"/>
            <a:ext cx="7145628" cy="79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42"/>
              </a:lnSpc>
            </a:pPr>
            <a:r>
              <a:rPr lang="en-US" sz="6190" spc="687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ARQUITECTURA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545" y="1690024"/>
            <a:ext cx="8051814" cy="6906952"/>
            <a:chOff x="0" y="0"/>
            <a:chExt cx="1247437" cy="1070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7437" cy="1070068"/>
            </a:xfrm>
            <a:custGeom>
              <a:avLst/>
              <a:gdLst/>
              <a:ahLst/>
              <a:cxnLst/>
              <a:rect r="r" b="b" t="t" l="l"/>
              <a:pathLst>
                <a:path h="1070068" w="1247437">
                  <a:moveTo>
                    <a:pt x="0" y="0"/>
                  </a:moveTo>
                  <a:lnTo>
                    <a:pt x="1247437" y="0"/>
                  </a:lnTo>
                  <a:lnTo>
                    <a:pt x="1247437" y="1070068"/>
                  </a:lnTo>
                  <a:lnTo>
                    <a:pt x="0" y="1070068"/>
                  </a:lnTo>
                  <a:close/>
                </a:path>
              </a:pathLst>
            </a:custGeom>
            <a:blipFill>
              <a:blip r:embed="rId2"/>
              <a:stretch>
                <a:fillRect l="-43494" t="0" r="-43494" b="0"/>
              </a:stretch>
            </a:blipFill>
            <a:ln w="114300" cap="sq">
              <a:solidFill>
                <a:srgbClr val="1B75B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67261" y="2899707"/>
            <a:ext cx="8004572" cy="513781"/>
            <a:chOff x="0" y="0"/>
            <a:chExt cx="2000221" cy="128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00221" cy="128386"/>
            </a:xfrm>
            <a:custGeom>
              <a:avLst/>
              <a:gdLst/>
              <a:ahLst/>
              <a:cxnLst/>
              <a:rect r="r" b="b" t="t" l="l"/>
              <a:pathLst>
                <a:path h="128386" w="2000221">
                  <a:moveTo>
                    <a:pt x="0" y="0"/>
                  </a:moveTo>
                  <a:lnTo>
                    <a:pt x="2000221" y="0"/>
                  </a:lnTo>
                  <a:lnTo>
                    <a:pt x="2000221" y="128386"/>
                  </a:lnTo>
                  <a:lnTo>
                    <a:pt x="0" y="128386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00221" cy="156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5400000">
            <a:off x="8816111" y="-11455422"/>
            <a:ext cx="1278988" cy="23086583"/>
            <a:chOff x="0" y="0"/>
            <a:chExt cx="476406" cy="85994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6406" cy="8599446"/>
            </a:xfrm>
            <a:custGeom>
              <a:avLst/>
              <a:gdLst/>
              <a:ahLst/>
              <a:cxnLst/>
              <a:rect r="r" b="b" t="t" l="l"/>
              <a:pathLst>
                <a:path h="8599446" w="476406">
                  <a:moveTo>
                    <a:pt x="0" y="0"/>
                  </a:moveTo>
                  <a:lnTo>
                    <a:pt x="476406" y="0"/>
                  </a:lnTo>
                  <a:lnTo>
                    <a:pt x="476406" y="8599446"/>
                  </a:lnTo>
                  <a:lnTo>
                    <a:pt x="0" y="8599446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76406" cy="862802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5400000">
            <a:off x="12983301" y="-1928785"/>
            <a:ext cx="6444000" cy="8204166"/>
          </a:xfrm>
          <a:custGeom>
            <a:avLst/>
            <a:gdLst/>
            <a:ahLst/>
            <a:cxnLst/>
            <a:rect r="r" b="b" t="t" l="l"/>
            <a:pathLst>
              <a:path h="8204166" w="6444000">
                <a:moveTo>
                  <a:pt x="0" y="8204167"/>
                </a:moveTo>
                <a:lnTo>
                  <a:pt x="6444000" y="8204167"/>
                </a:lnTo>
                <a:lnTo>
                  <a:pt x="6444000" y="0"/>
                </a:lnTo>
                <a:lnTo>
                  <a:pt x="0" y="0"/>
                </a:lnTo>
                <a:lnTo>
                  <a:pt x="0" y="820416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67261" y="3691111"/>
            <a:ext cx="8107033" cy="5643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Cliente–Servidor (Client–Server Architecture)</a:t>
            </a:r>
          </a:p>
          <a:p>
            <a:pPr algn="l">
              <a:lnSpc>
                <a:spcPts val="2974"/>
              </a:lnSpc>
            </a:pPr>
          </a:p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Frontend (cliente)</a:t>
            </a:r>
          </a:p>
          <a:p>
            <a:pPr algn="l" marL="458633" indent="-229317" lvl="1">
              <a:lnSpc>
                <a:spcPts val="2974"/>
              </a:lnSpc>
              <a:buFont typeface="Arial"/>
              <a:buChar char="•"/>
            </a:pP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Ubicado en la carpeta principal con src/, public/, vite.config.ts, tailwind.config.ts, etc.</a:t>
            </a:r>
          </a:p>
          <a:p>
            <a:pPr algn="l" marL="458633" indent="-229317" lvl="1">
              <a:lnSpc>
                <a:spcPts val="2974"/>
              </a:lnSpc>
              <a:buFont typeface="Arial"/>
              <a:buChar char="•"/>
            </a:pP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Construido con React, Vite y Tailwind CSS.</a:t>
            </a:r>
          </a:p>
          <a:p>
            <a:pPr algn="l" marL="458633" indent="-229317" lvl="1">
              <a:lnSpc>
                <a:spcPts val="2974"/>
              </a:lnSpc>
              <a:buFont typeface="Arial"/>
              <a:buChar char="•"/>
            </a:pP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Maneja la interfaz de usuario, la navegación, la presentación y la interacción del usuario.</a:t>
            </a:r>
          </a:p>
          <a:p>
            <a:pPr algn="l">
              <a:lnSpc>
                <a:spcPts val="2974"/>
              </a:lnSpc>
            </a:pPr>
          </a:p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Backend (servidor)</a:t>
            </a:r>
          </a:p>
          <a:p>
            <a:pPr algn="l" marL="458633" indent="-229317" lvl="1">
              <a:lnSpc>
                <a:spcPts val="2974"/>
              </a:lnSpc>
              <a:buFont typeface="Arial"/>
              <a:buChar char="•"/>
            </a:pP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Ubicado en la carpeta backend/.</a:t>
            </a:r>
          </a:p>
          <a:p>
            <a:pPr algn="l" marL="458633" indent="-229317" lvl="1">
              <a:lnSpc>
                <a:spcPts val="2974"/>
              </a:lnSpc>
              <a:buFont typeface="Arial"/>
              <a:buChar char="•"/>
            </a:pPr>
            <a:r>
              <a:rPr lang="en-US" sz="2124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El frontend se comunica con él vía peticiones HTTP (fetch/axios).</a:t>
            </a:r>
          </a:p>
          <a:p>
            <a:pPr algn="l">
              <a:lnSpc>
                <a:spcPts val="2974"/>
              </a:lnSpc>
            </a:pPr>
          </a:p>
          <a:p>
            <a:pPr algn="l">
              <a:lnSpc>
                <a:spcPts val="297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567261" y="1832899"/>
            <a:ext cx="7145628" cy="79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42"/>
              </a:lnSpc>
            </a:pPr>
            <a:r>
              <a:rPr lang="en-US" sz="6190" spc="687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ARQUITECTURA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39010" y="3482497"/>
            <a:ext cx="7864133" cy="494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</a:p>
          <a:p>
            <a:pPr algn="l" marL="472164" indent="-236082" lvl="1">
              <a:lnSpc>
                <a:spcPts val="3061"/>
              </a:lnSpc>
              <a:buFont typeface="Arial"/>
              <a:buChar char="•"/>
            </a:pPr>
            <a:r>
              <a:rPr lang="en-US" sz="2186" spc="129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React para la construcción de interfaces dinámicas.</a:t>
            </a:r>
          </a:p>
          <a:p>
            <a:pPr algn="l" marL="472164" indent="-236082" lvl="1">
              <a:lnSpc>
                <a:spcPts val="3061"/>
              </a:lnSpc>
              <a:buFont typeface="Arial"/>
              <a:buChar char="•"/>
            </a:pPr>
            <a:r>
              <a:rPr lang="en-US" sz="2186" spc="129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TypeScript para tipado estático y mayor robustez.</a:t>
            </a:r>
          </a:p>
          <a:p>
            <a:pPr algn="l" marL="472164" indent="-236082" lvl="1">
              <a:lnSpc>
                <a:spcPts val="3061"/>
              </a:lnSpc>
              <a:buFont typeface="Arial"/>
              <a:buChar char="•"/>
            </a:pPr>
            <a:r>
              <a:rPr lang="en-US" sz="2186" spc="129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Vite como herramienta de desarrollo rápida y moderna.</a:t>
            </a:r>
          </a:p>
          <a:p>
            <a:pPr algn="l" marL="472164" indent="-236082" lvl="1">
              <a:lnSpc>
                <a:spcPts val="3061"/>
              </a:lnSpc>
              <a:buFont typeface="Arial"/>
              <a:buChar char="•"/>
            </a:pPr>
            <a:r>
              <a:rPr lang="en-US" sz="2186" spc="129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Tailwind CSS para estilos consistentes y responsivos.</a:t>
            </a:r>
          </a:p>
          <a:p>
            <a:pPr algn="l" marL="472164" indent="-236082" lvl="1">
              <a:lnSpc>
                <a:spcPts val="3061"/>
              </a:lnSpc>
              <a:buFont typeface="Arial"/>
              <a:buChar char="•"/>
            </a:pPr>
            <a:r>
              <a:rPr lang="en-US" sz="2186" spc="129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Node.js + Backend para manejar la lógica del servidor y APIs.</a:t>
            </a:r>
          </a:p>
          <a:p>
            <a:pPr algn="l" marL="472164" indent="-236082" lvl="1">
              <a:lnSpc>
                <a:spcPts val="3061"/>
              </a:lnSpc>
              <a:buFont typeface="Arial"/>
              <a:buChar char="•"/>
            </a:pPr>
            <a:r>
              <a:rPr lang="en-US" sz="2186" spc="129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NPM para gestionar dependencias.</a:t>
            </a:r>
          </a:p>
          <a:p>
            <a:pPr algn="l" marL="472164" indent="-236082" lvl="1">
              <a:lnSpc>
                <a:spcPts val="3061"/>
              </a:lnSpc>
              <a:buFont typeface="Arial"/>
              <a:buChar char="•"/>
            </a:pPr>
            <a:r>
              <a:rPr lang="en-US" sz="2186" spc="129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PostCSS / Autoprefixer para procesar estilos.</a:t>
            </a:r>
          </a:p>
          <a:p>
            <a:pPr algn="l" marL="472164" indent="-236082" lvl="1">
              <a:lnSpc>
                <a:spcPts val="3061"/>
              </a:lnSpc>
              <a:spcBef>
                <a:spcPct val="0"/>
              </a:spcBef>
              <a:buFont typeface="Arial"/>
              <a:buChar char="•"/>
            </a:pPr>
            <a:r>
              <a:rPr lang="en-US" sz="2186" spc="129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GitHub como plataforma de control de versiones.</a:t>
            </a:r>
          </a:p>
          <a:p>
            <a:pPr algn="l">
              <a:lnSpc>
                <a:spcPts val="3061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939698" y="1725389"/>
            <a:ext cx="14408604" cy="109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5"/>
              </a:lnSpc>
            </a:pPr>
            <a:r>
              <a:rPr lang="en-US" sz="8454" spc="938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TECNOLOGIAS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139010" y="2817797"/>
            <a:ext cx="8004572" cy="513781"/>
            <a:chOff x="0" y="0"/>
            <a:chExt cx="2000221" cy="128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00221" cy="128386"/>
            </a:xfrm>
            <a:custGeom>
              <a:avLst/>
              <a:gdLst/>
              <a:ahLst/>
              <a:cxnLst/>
              <a:rect r="r" b="b" t="t" l="l"/>
              <a:pathLst>
                <a:path h="128386" w="2000221">
                  <a:moveTo>
                    <a:pt x="0" y="0"/>
                  </a:moveTo>
                  <a:lnTo>
                    <a:pt x="2000221" y="0"/>
                  </a:lnTo>
                  <a:lnTo>
                    <a:pt x="2000221" y="128386"/>
                  </a:lnTo>
                  <a:lnTo>
                    <a:pt x="0" y="128386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00221" cy="156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24101" y="-365594"/>
            <a:ext cx="15181998" cy="1092957"/>
            <a:chOff x="0" y="0"/>
            <a:chExt cx="5655093" cy="407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55093" cy="407112"/>
            </a:xfrm>
            <a:custGeom>
              <a:avLst/>
              <a:gdLst/>
              <a:ahLst/>
              <a:cxnLst/>
              <a:rect r="r" b="b" t="t" l="l"/>
              <a:pathLst>
                <a:path h="407112" w="5655093">
                  <a:moveTo>
                    <a:pt x="0" y="0"/>
                  </a:moveTo>
                  <a:lnTo>
                    <a:pt x="5655093" y="0"/>
                  </a:lnTo>
                  <a:lnTo>
                    <a:pt x="5655093" y="407112"/>
                  </a:lnTo>
                  <a:lnTo>
                    <a:pt x="0" y="407112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5655093" cy="43568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-826891" y="-1688355"/>
            <a:ext cx="7283617" cy="6568499"/>
            <a:chOff x="0" y="0"/>
            <a:chExt cx="9711490" cy="8757998"/>
          </a:xfrm>
        </p:grpSpPr>
        <p:sp>
          <p:nvSpPr>
            <p:cNvPr name="Freeform 11" id="11"/>
            <p:cNvSpPr/>
            <p:nvPr/>
          </p:nvSpPr>
          <p:spPr>
            <a:xfrm flipH="false" flipV="false" rot="-10800000">
              <a:off x="0" y="0"/>
              <a:ext cx="9711490" cy="8757998"/>
            </a:xfrm>
            <a:custGeom>
              <a:avLst/>
              <a:gdLst/>
              <a:ahLst/>
              <a:cxnLst/>
              <a:rect r="r" b="b" t="t" l="l"/>
              <a:pathLst>
                <a:path h="8757998" w="9711490">
                  <a:moveTo>
                    <a:pt x="0" y="0"/>
                  </a:moveTo>
                  <a:lnTo>
                    <a:pt x="9711490" y="0"/>
                  </a:lnTo>
                  <a:lnTo>
                    <a:pt x="9711490" y="8757998"/>
                  </a:lnTo>
                  <a:lnTo>
                    <a:pt x="0" y="8757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2" id="12"/>
            <p:cNvSpPr/>
            <p:nvPr/>
          </p:nvSpPr>
          <p:spPr>
            <a:xfrm>
              <a:off x="3542825" y="182157"/>
              <a:ext cx="4651057" cy="4651057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1171484" y="182157"/>
              <a:ext cx="2382254" cy="2382254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-742337" y="9564060"/>
            <a:ext cx="19816820" cy="1232767"/>
            <a:chOff x="0" y="0"/>
            <a:chExt cx="7381503" cy="459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81504" cy="459190"/>
            </a:xfrm>
            <a:custGeom>
              <a:avLst/>
              <a:gdLst/>
              <a:ahLst/>
              <a:cxnLst/>
              <a:rect r="r" b="b" t="t" l="l"/>
              <a:pathLst>
                <a:path h="459190" w="7381504">
                  <a:moveTo>
                    <a:pt x="0" y="0"/>
                  </a:moveTo>
                  <a:lnTo>
                    <a:pt x="7381504" y="0"/>
                  </a:lnTo>
                  <a:lnTo>
                    <a:pt x="7381504" y="459190"/>
                  </a:lnTo>
                  <a:lnTo>
                    <a:pt x="0" y="45919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381503" cy="48776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42896" y="3581313"/>
            <a:ext cx="9002209" cy="384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1967" indent="-260983" lvl="1">
              <a:lnSpc>
                <a:spcPts val="3384"/>
              </a:lnSpc>
              <a:buFont typeface="Arial"/>
              <a:buChar char="•"/>
            </a:pPr>
            <a:r>
              <a:rPr lang="en-US" sz="2417" spc="14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La interfaz del proyecto está diseñada utilizando React y Tailwind CSS, lo que permite desarrollar pantallas dinámicas, limpias y completamente responsivas.</a:t>
            </a:r>
          </a:p>
          <a:p>
            <a:pPr algn="l">
              <a:lnSpc>
                <a:spcPts val="3384"/>
              </a:lnSpc>
            </a:pPr>
          </a:p>
          <a:p>
            <a:pPr algn="l" marL="521967" indent="-260983" lvl="1">
              <a:lnSpc>
                <a:spcPts val="3384"/>
              </a:lnSpc>
              <a:spcBef>
                <a:spcPct val="0"/>
              </a:spcBef>
              <a:buFont typeface="Arial"/>
              <a:buChar char="•"/>
            </a:pPr>
            <a:r>
              <a:rPr lang="en-US" sz="2417" spc="14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Gracias a la arquitectura basada en componentes, cada elemento visual está construido como una pieza independiente y reutilizable, lo que facilita mantener consistencia en todo el sistema.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469331" y="-761688"/>
            <a:ext cx="15181998" cy="1523377"/>
            <a:chOff x="0" y="0"/>
            <a:chExt cx="5655093" cy="5674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55093" cy="567438"/>
            </a:xfrm>
            <a:custGeom>
              <a:avLst/>
              <a:gdLst/>
              <a:ahLst/>
              <a:cxnLst/>
              <a:rect r="r" b="b" t="t" l="l"/>
              <a:pathLst>
                <a:path h="567438" w="5655093">
                  <a:moveTo>
                    <a:pt x="0" y="0"/>
                  </a:moveTo>
                  <a:lnTo>
                    <a:pt x="5655093" y="0"/>
                  </a:lnTo>
                  <a:lnTo>
                    <a:pt x="5655093" y="567438"/>
                  </a:lnTo>
                  <a:lnTo>
                    <a:pt x="0" y="567438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55093" cy="59601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22160" y="-827516"/>
            <a:ext cx="7283617" cy="6568499"/>
            <a:chOff x="0" y="0"/>
            <a:chExt cx="9711490" cy="8757998"/>
          </a:xfrm>
        </p:grpSpPr>
        <p:sp>
          <p:nvSpPr>
            <p:cNvPr name="Freeform 7" id="7"/>
            <p:cNvSpPr/>
            <p:nvPr/>
          </p:nvSpPr>
          <p:spPr>
            <a:xfrm flipH="false" flipV="false" rot="-10800000">
              <a:off x="0" y="0"/>
              <a:ext cx="9711490" cy="8757998"/>
            </a:xfrm>
            <a:custGeom>
              <a:avLst/>
              <a:gdLst/>
              <a:ahLst/>
              <a:cxnLst/>
              <a:rect r="r" b="b" t="t" l="l"/>
              <a:pathLst>
                <a:path h="8757998" w="9711490">
                  <a:moveTo>
                    <a:pt x="0" y="0"/>
                  </a:moveTo>
                  <a:lnTo>
                    <a:pt x="9711490" y="0"/>
                  </a:lnTo>
                  <a:lnTo>
                    <a:pt x="9711490" y="8757998"/>
                  </a:lnTo>
                  <a:lnTo>
                    <a:pt x="0" y="8757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8" id="8"/>
            <p:cNvSpPr/>
            <p:nvPr/>
          </p:nvSpPr>
          <p:spPr>
            <a:xfrm>
              <a:off x="3542825" y="182157"/>
              <a:ext cx="4651057" cy="4651057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1171484" y="182157"/>
              <a:ext cx="2382254" cy="2382254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92516" y="2209255"/>
            <a:ext cx="13430661" cy="247478"/>
            <a:chOff x="0" y="0"/>
            <a:chExt cx="3537293" cy="651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37293" cy="65179"/>
            </a:xfrm>
            <a:custGeom>
              <a:avLst/>
              <a:gdLst/>
              <a:ahLst/>
              <a:cxnLst/>
              <a:rect r="r" b="b" t="t" l="l"/>
              <a:pathLst>
                <a:path h="65179" w="3537293">
                  <a:moveTo>
                    <a:pt x="0" y="0"/>
                  </a:moveTo>
                  <a:lnTo>
                    <a:pt x="3537293" y="0"/>
                  </a:lnTo>
                  <a:lnTo>
                    <a:pt x="3537293" y="65179"/>
                  </a:lnTo>
                  <a:lnTo>
                    <a:pt x="0" y="65179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537293" cy="9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742337" y="9564060"/>
            <a:ext cx="19816820" cy="1232767"/>
            <a:chOff x="0" y="0"/>
            <a:chExt cx="7381503" cy="4591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81504" cy="459190"/>
            </a:xfrm>
            <a:custGeom>
              <a:avLst/>
              <a:gdLst/>
              <a:ahLst/>
              <a:cxnLst/>
              <a:rect r="r" b="b" t="t" l="l"/>
              <a:pathLst>
                <a:path h="459190" w="7381504">
                  <a:moveTo>
                    <a:pt x="0" y="0"/>
                  </a:moveTo>
                  <a:lnTo>
                    <a:pt x="7381504" y="0"/>
                  </a:lnTo>
                  <a:lnTo>
                    <a:pt x="7381504" y="459190"/>
                  </a:lnTo>
                  <a:lnTo>
                    <a:pt x="0" y="45919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7381503" cy="48776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619380" y="6587491"/>
            <a:ext cx="3000909" cy="2670809"/>
          </a:xfrm>
          <a:custGeom>
            <a:avLst/>
            <a:gdLst/>
            <a:ahLst/>
            <a:cxnLst/>
            <a:rect r="r" b="b" t="t" l="l"/>
            <a:pathLst>
              <a:path h="2670809" w="3000909">
                <a:moveTo>
                  <a:pt x="0" y="0"/>
                </a:moveTo>
                <a:lnTo>
                  <a:pt x="3000909" y="0"/>
                </a:lnTo>
                <a:lnTo>
                  <a:pt x="3000909" y="2670809"/>
                </a:lnTo>
                <a:lnTo>
                  <a:pt x="0" y="26708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50743" y="1209675"/>
            <a:ext cx="13386514" cy="101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0"/>
              </a:lnSpc>
            </a:pPr>
            <a:r>
              <a:rPr lang="en-US" sz="7854" spc="871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INTERFAZ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9331" y="-761688"/>
            <a:ext cx="15181998" cy="1523377"/>
            <a:chOff x="0" y="0"/>
            <a:chExt cx="5655093" cy="567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55093" cy="567438"/>
            </a:xfrm>
            <a:custGeom>
              <a:avLst/>
              <a:gdLst/>
              <a:ahLst/>
              <a:cxnLst/>
              <a:rect r="r" b="b" t="t" l="l"/>
              <a:pathLst>
                <a:path h="567438" w="5655093">
                  <a:moveTo>
                    <a:pt x="0" y="0"/>
                  </a:moveTo>
                  <a:lnTo>
                    <a:pt x="5655093" y="0"/>
                  </a:lnTo>
                  <a:lnTo>
                    <a:pt x="5655093" y="567438"/>
                  </a:lnTo>
                  <a:lnTo>
                    <a:pt x="0" y="567438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655093" cy="59601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22160" y="-827516"/>
            <a:ext cx="7283617" cy="6568499"/>
            <a:chOff x="0" y="0"/>
            <a:chExt cx="9711490" cy="8757998"/>
          </a:xfrm>
        </p:grpSpPr>
        <p:sp>
          <p:nvSpPr>
            <p:cNvPr name="Freeform 6" id="6"/>
            <p:cNvSpPr/>
            <p:nvPr/>
          </p:nvSpPr>
          <p:spPr>
            <a:xfrm flipH="false" flipV="false" rot="-10800000">
              <a:off x="0" y="0"/>
              <a:ext cx="9711490" cy="8757998"/>
            </a:xfrm>
            <a:custGeom>
              <a:avLst/>
              <a:gdLst/>
              <a:ahLst/>
              <a:cxnLst/>
              <a:rect r="r" b="b" t="t" l="l"/>
              <a:pathLst>
                <a:path h="8757998" w="9711490">
                  <a:moveTo>
                    <a:pt x="0" y="0"/>
                  </a:moveTo>
                  <a:lnTo>
                    <a:pt x="9711490" y="0"/>
                  </a:lnTo>
                  <a:lnTo>
                    <a:pt x="9711490" y="8757998"/>
                  </a:lnTo>
                  <a:lnTo>
                    <a:pt x="0" y="8757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7" id="7"/>
            <p:cNvSpPr/>
            <p:nvPr/>
          </p:nvSpPr>
          <p:spPr>
            <a:xfrm>
              <a:off x="3542825" y="182157"/>
              <a:ext cx="4651057" cy="4651057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1171484" y="182157"/>
              <a:ext cx="2382254" cy="2382254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292516" y="2209255"/>
            <a:ext cx="13430661" cy="247478"/>
            <a:chOff x="0" y="0"/>
            <a:chExt cx="3537293" cy="651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7293" cy="65179"/>
            </a:xfrm>
            <a:custGeom>
              <a:avLst/>
              <a:gdLst/>
              <a:ahLst/>
              <a:cxnLst/>
              <a:rect r="r" b="b" t="t" l="l"/>
              <a:pathLst>
                <a:path h="65179" w="3537293">
                  <a:moveTo>
                    <a:pt x="0" y="0"/>
                  </a:moveTo>
                  <a:lnTo>
                    <a:pt x="3537293" y="0"/>
                  </a:lnTo>
                  <a:lnTo>
                    <a:pt x="3537293" y="65179"/>
                  </a:lnTo>
                  <a:lnTo>
                    <a:pt x="0" y="65179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7293" cy="9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742337" y="9564060"/>
            <a:ext cx="19816820" cy="1232767"/>
            <a:chOff x="0" y="0"/>
            <a:chExt cx="7381503" cy="4591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81504" cy="459190"/>
            </a:xfrm>
            <a:custGeom>
              <a:avLst/>
              <a:gdLst/>
              <a:ahLst/>
              <a:cxnLst/>
              <a:rect r="r" b="b" t="t" l="l"/>
              <a:pathLst>
                <a:path h="459190" w="7381504">
                  <a:moveTo>
                    <a:pt x="0" y="0"/>
                  </a:moveTo>
                  <a:lnTo>
                    <a:pt x="7381504" y="0"/>
                  </a:lnTo>
                  <a:lnTo>
                    <a:pt x="7381504" y="459190"/>
                  </a:lnTo>
                  <a:lnTo>
                    <a:pt x="0" y="45919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381503" cy="48776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575236" y="2920669"/>
            <a:ext cx="12547117" cy="6179455"/>
          </a:xfrm>
          <a:custGeom>
            <a:avLst/>
            <a:gdLst/>
            <a:ahLst/>
            <a:cxnLst/>
            <a:rect r="r" b="b" t="t" l="l"/>
            <a:pathLst>
              <a:path h="6179455" w="12547117">
                <a:moveTo>
                  <a:pt x="0" y="0"/>
                </a:moveTo>
                <a:lnTo>
                  <a:pt x="12547117" y="0"/>
                </a:lnTo>
                <a:lnTo>
                  <a:pt x="12547117" y="6179455"/>
                </a:lnTo>
                <a:lnTo>
                  <a:pt x="0" y="6179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50743" y="1209675"/>
            <a:ext cx="13386514" cy="101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0"/>
              </a:lnSpc>
            </a:pPr>
            <a:r>
              <a:rPr lang="en-US" sz="7854" spc="871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INTERFAZ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9331" y="-761688"/>
            <a:ext cx="15181998" cy="1523377"/>
            <a:chOff x="0" y="0"/>
            <a:chExt cx="5655093" cy="567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55093" cy="567438"/>
            </a:xfrm>
            <a:custGeom>
              <a:avLst/>
              <a:gdLst/>
              <a:ahLst/>
              <a:cxnLst/>
              <a:rect r="r" b="b" t="t" l="l"/>
              <a:pathLst>
                <a:path h="567438" w="5655093">
                  <a:moveTo>
                    <a:pt x="0" y="0"/>
                  </a:moveTo>
                  <a:lnTo>
                    <a:pt x="5655093" y="0"/>
                  </a:lnTo>
                  <a:lnTo>
                    <a:pt x="5655093" y="567438"/>
                  </a:lnTo>
                  <a:lnTo>
                    <a:pt x="0" y="567438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655093" cy="59601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22160" y="-827516"/>
            <a:ext cx="7283617" cy="6568499"/>
            <a:chOff x="0" y="0"/>
            <a:chExt cx="9711490" cy="8757998"/>
          </a:xfrm>
        </p:grpSpPr>
        <p:sp>
          <p:nvSpPr>
            <p:cNvPr name="Freeform 6" id="6"/>
            <p:cNvSpPr/>
            <p:nvPr/>
          </p:nvSpPr>
          <p:spPr>
            <a:xfrm flipH="false" flipV="false" rot="-10800000">
              <a:off x="0" y="0"/>
              <a:ext cx="9711490" cy="8757998"/>
            </a:xfrm>
            <a:custGeom>
              <a:avLst/>
              <a:gdLst/>
              <a:ahLst/>
              <a:cxnLst/>
              <a:rect r="r" b="b" t="t" l="l"/>
              <a:pathLst>
                <a:path h="8757998" w="9711490">
                  <a:moveTo>
                    <a:pt x="0" y="0"/>
                  </a:moveTo>
                  <a:lnTo>
                    <a:pt x="9711490" y="0"/>
                  </a:lnTo>
                  <a:lnTo>
                    <a:pt x="9711490" y="8757998"/>
                  </a:lnTo>
                  <a:lnTo>
                    <a:pt x="0" y="8757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7" id="7"/>
            <p:cNvSpPr/>
            <p:nvPr/>
          </p:nvSpPr>
          <p:spPr>
            <a:xfrm>
              <a:off x="3542825" y="182157"/>
              <a:ext cx="4651057" cy="4651057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1171484" y="182157"/>
              <a:ext cx="2382254" cy="2382254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292516" y="2209255"/>
            <a:ext cx="13430661" cy="247478"/>
            <a:chOff x="0" y="0"/>
            <a:chExt cx="3537293" cy="651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7293" cy="65179"/>
            </a:xfrm>
            <a:custGeom>
              <a:avLst/>
              <a:gdLst/>
              <a:ahLst/>
              <a:cxnLst/>
              <a:rect r="r" b="b" t="t" l="l"/>
              <a:pathLst>
                <a:path h="65179" w="3537293">
                  <a:moveTo>
                    <a:pt x="0" y="0"/>
                  </a:moveTo>
                  <a:lnTo>
                    <a:pt x="3537293" y="0"/>
                  </a:lnTo>
                  <a:lnTo>
                    <a:pt x="3537293" y="65179"/>
                  </a:lnTo>
                  <a:lnTo>
                    <a:pt x="0" y="65179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7293" cy="9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742337" y="9564060"/>
            <a:ext cx="19816820" cy="1232767"/>
            <a:chOff x="0" y="0"/>
            <a:chExt cx="7381503" cy="4591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81504" cy="459190"/>
            </a:xfrm>
            <a:custGeom>
              <a:avLst/>
              <a:gdLst/>
              <a:ahLst/>
              <a:cxnLst/>
              <a:rect r="r" b="b" t="t" l="l"/>
              <a:pathLst>
                <a:path h="459190" w="7381504">
                  <a:moveTo>
                    <a:pt x="0" y="0"/>
                  </a:moveTo>
                  <a:lnTo>
                    <a:pt x="7381504" y="0"/>
                  </a:lnTo>
                  <a:lnTo>
                    <a:pt x="7381504" y="459190"/>
                  </a:lnTo>
                  <a:lnTo>
                    <a:pt x="0" y="45919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381503" cy="48776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678608" y="2723433"/>
            <a:ext cx="12658478" cy="6297593"/>
          </a:xfrm>
          <a:custGeom>
            <a:avLst/>
            <a:gdLst/>
            <a:ahLst/>
            <a:cxnLst/>
            <a:rect r="r" b="b" t="t" l="l"/>
            <a:pathLst>
              <a:path h="6297593" w="12658478">
                <a:moveTo>
                  <a:pt x="0" y="0"/>
                </a:moveTo>
                <a:lnTo>
                  <a:pt x="12658478" y="0"/>
                </a:lnTo>
                <a:lnTo>
                  <a:pt x="12658478" y="6297592"/>
                </a:lnTo>
                <a:lnTo>
                  <a:pt x="0" y="6297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50743" y="1209675"/>
            <a:ext cx="13386514" cy="101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0"/>
              </a:lnSpc>
            </a:pPr>
            <a:r>
              <a:rPr lang="en-US" sz="7854" spc="871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INTERFAZ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9331" y="-761688"/>
            <a:ext cx="15181998" cy="1523377"/>
            <a:chOff x="0" y="0"/>
            <a:chExt cx="5655093" cy="567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55093" cy="567438"/>
            </a:xfrm>
            <a:custGeom>
              <a:avLst/>
              <a:gdLst/>
              <a:ahLst/>
              <a:cxnLst/>
              <a:rect r="r" b="b" t="t" l="l"/>
              <a:pathLst>
                <a:path h="567438" w="5655093">
                  <a:moveTo>
                    <a:pt x="0" y="0"/>
                  </a:moveTo>
                  <a:lnTo>
                    <a:pt x="5655093" y="0"/>
                  </a:lnTo>
                  <a:lnTo>
                    <a:pt x="5655093" y="567438"/>
                  </a:lnTo>
                  <a:lnTo>
                    <a:pt x="0" y="567438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655093" cy="59601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22160" y="-827516"/>
            <a:ext cx="7283617" cy="6568499"/>
            <a:chOff x="0" y="0"/>
            <a:chExt cx="9711490" cy="8757998"/>
          </a:xfrm>
        </p:grpSpPr>
        <p:sp>
          <p:nvSpPr>
            <p:cNvPr name="Freeform 6" id="6"/>
            <p:cNvSpPr/>
            <p:nvPr/>
          </p:nvSpPr>
          <p:spPr>
            <a:xfrm flipH="false" flipV="false" rot="-10800000">
              <a:off x="0" y="0"/>
              <a:ext cx="9711490" cy="8757998"/>
            </a:xfrm>
            <a:custGeom>
              <a:avLst/>
              <a:gdLst/>
              <a:ahLst/>
              <a:cxnLst/>
              <a:rect r="r" b="b" t="t" l="l"/>
              <a:pathLst>
                <a:path h="8757998" w="9711490">
                  <a:moveTo>
                    <a:pt x="0" y="0"/>
                  </a:moveTo>
                  <a:lnTo>
                    <a:pt x="9711490" y="0"/>
                  </a:lnTo>
                  <a:lnTo>
                    <a:pt x="9711490" y="8757998"/>
                  </a:lnTo>
                  <a:lnTo>
                    <a:pt x="0" y="8757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7" id="7"/>
            <p:cNvSpPr/>
            <p:nvPr/>
          </p:nvSpPr>
          <p:spPr>
            <a:xfrm>
              <a:off x="3542825" y="182157"/>
              <a:ext cx="4651057" cy="4651057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1171484" y="182157"/>
              <a:ext cx="2382254" cy="2382254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292516" y="2209255"/>
            <a:ext cx="13430661" cy="247478"/>
            <a:chOff x="0" y="0"/>
            <a:chExt cx="3537293" cy="651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7293" cy="65179"/>
            </a:xfrm>
            <a:custGeom>
              <a:avLst/>
              <a:gdLst/>
              <a:ahLst/>
              <a:cxnLst/>
              <a:rect r="r" b="b" t="t" l="l"/>
              <a:pathLst>
                <a:path h="65179" w="3537293">
                  <a:moveTo>
                    <a:pt x="0" y="0"/>
                  </a:moveTo>
                  <a:lnTo>
                    <a:pt x="3537293" y="0"/>
                  </a:lnTo>
                  <a:lnTo>
                    <a:pt x="3537293" y="65179"/>
                  </a:lnTo>
                  <a:lnTo>
                    <a:pt x="0" y="65179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37293" cy="9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742337" y="9564060"/>
            <a:ext cx="19816820" cy="1232767"/>
            <a:chOff x="0" y="0"/>
            <a:chExt cx="7381503" cy="4591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81504" cy="459190"/>
            </a:xfrm>
            <a:custGeom>
              <a:avLst/>
              <a:gdLst/>
              <a:ahLst/>
              <a:cxnLst/>
              <a:rect r="r" b="b" t="t" l="l"/>
              <a:pathLst>
                <a:path h="459190" w="7381504">
                  <a:moveTo>
                    <a:pt x="0" y="0"/>
                  </a:moveTo>
                  <a:lnTo>
                    <a:pt x="7381504" y="0"/>
                  </a:lnTo>
                  <a:lnTo>
                    <a:pt x="7381504" y="459190"/>
                  </a:lnTo>
                  <a:lnTo>
                    <a:pt x="0" y="45919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381503" cy="48776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292516" y="2843663"/>
            <a:ext cx="13218105" cy="6476871"/>
          </a:xfrm>
          <a:custGeom>
            <a:avLst/>
            <a:gdLst/>
            <a:ahLst/>
            <a:cxnLst/>
            <a:rect r="r" b="b" t="t" l="l"/>
            <a:pathLst>
              <a:path h="6476871" w="13218105">
                <a:moveTo>
                  <a:pt x="0" y="0"/>
                </a:moveTo>
                <a:lnTo>
                  <a:pt x="13218105" y="0"/>
                </a:lnTo>
                <a:lnTo>
                  <a:pt x="13218105" y="6476872"/>
                </a:lnTo>
                <a:lnTo>
                  <a:pt x="0" y="6476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50743" y="1209675"/>
            <a:ext cx="13386514" cy="101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0"/>
              </a:lnSpc>
            </a:pPr>
            <a:r>
              <a:rPr lang="en-US" sz="7854" spc="871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INTERFAZ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2217302" y="715346"/>
            <a:ext cx="5313427" cy="3534922"/>
            <a:chOff x="0" y="0"/>
            <a:chExt cx="7084569" cy="4713229"/>
          </a:xfrm>
        </p:grpSpPr>
        <p:sp>
          <p:nvSpPr>
            <p:cNvPr name="AutoShape 3" id="3"/>
            <p:cNvSpPr/>
            <p:nvPr/>
          </p:nvSpPr>
          <p:spPr>
            <a:xfrm>
              <a:off x="2402426" y="31086"/>
              <a:ext cx="4651057" cy="4651057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31086" y="31086"/>
              <a:ext cx="2382254" cy="2382254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32035" y="2714472"/>
            <a:ext cx="5503143" cy="257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Problemas en la conexión con la base de datos</a:t>
            </a:r>
          </a:p>
          <a:p>
            <a:pPr algn="l">
              <a:lnSpc>
                <a:spcPts val="2565"/>
              </a:lnSpc>
            </a:pP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 Tuvimos que resolver temas relacionados con: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Configuración del motor de base de datos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Manejo de credenciales y variables de entorno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Conexión desde el servidor y validación de datos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Compatibilidad entre librerías y controladores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3781477" y="1551017"/>
            <a:ext cx="11502686" cy="317116"/>
            <a:chOff x="0" y="0"/>
            <a:chExt cx="2874346" cy="792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74346" cy="79242"/>
            </a:xfrm>
            <a:custGeom>
              <a:avLst/>
              <a:gdLst/>
              <a:ahLst/>
              <a:cxnLst/>
              <a:rect r="r" b="b" t="t" l="l"/>
              <a:pathLst>
                <a:path h="79242" w="2874346">
                  <a:moveTo>
                    <a:pt x="0" y="0"/>
                  </a:moveTo>
                  <a:lnTo>
                    <a:pt x="2874346" y="0"/>
                  </a:lnTo>
                  <a:lnTo>
                    <a:pt x="2874346" y="79242"/>
                  </a:lnTo>
                  <a:lnTo>
                    <a:pt x="0" y="79242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874346" cy="107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250318" y="544483"/>
            <a:ext cx="7831511" cy="100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8"/>
              </a:lnSpc>
            </a:pPr>
            <a:r>
              <a:rPr lang="en-US" sz="6886" spc="764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DIFICULTADES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742337" y="9564060"/>
            <a:ext cx="19816820" cy="1232767"/>
            <a:chOff x="0" y="0"/>
            <a:chExt cx="7381503" cy="4591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81504" cy="459190"/>
            </a:xfrm>
            <a:custGeom>
              <a:avLst/>
              <a:gdLst/>
              <a:ahLst/>
              <a:cxnLst/>
              <a:rect r="r" b="b" t="t" l="l"/>
              <a:pathLst>
                <a:path h="459190" w="7381504">
                  <a:moveTo>
                    <a:pt x="0" y="0"/>
                  </a:moveTo>
                  <a:lnTo>
                    <a:pt x="7381504" y="0"/>
                  </a:lnTo>
                  <a:lnTo>
                    <a:pt x="7381504" y="459190"/>
                  </a:lnTo>
                  <a:lnTo>
                    <a:pt x="0" y="45919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381503" cy="48776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53154" y="2390263"/>
            <a:ext cx="7106723" cy="289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Curva de aprendizaje con Tailwind CSS</a:t>
            </a:r>
          </a:p>
          <a:p>
            <a:pPr algn="l">
              <a:lnSpc>
                <a:spcPts val="2565"/>
              </a:lnSpc>
            </a:pP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 Los principales retos fueron: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Comprender la lógica detrás de los estilos utilitarios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Memorizar las clases más comunes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Ma</a:t>
            </a: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ntener el código limpio y organizado dentro de los componentes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Adaptarnos a su forma de manejar responsividad y espaciado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439412" y="5131608"/>
            <a:ext cx="5895765" cy="317116"/>
            <a:chOff x="0" y="0"/>
            <a:chExt cx="1473262" cy="792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73262" cy="79242"/>
            </a:xfrm>
            <a:custGeom>
              <a:avLst/>
              <a:gdLst/>
              <a:ahLst/>
              <a:cxnLst/>
              <a:rect r="r" b="b" t="t" l="l"/>
              <a:pathLst>
                <a:path h="79242" w="1473262">
                  <a:moveTo>
                    <a:pt x="0" y="0"/>
                  </a:moveTo>
                  <a:lnTo>
                    <a:pt x="1473262" y="0"/>
                  </a:lnTo>
                  <a:lnTo>
                    <a:pt x="1473262" y="79242"/>
                  </a:lnTo>
                  <a:lnTo>
                    <a:pt x="0" y="79242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73262" cy="107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63535" y="5143500"/>
            <a:ext cx="5895765" cy="317116"/>
            <a:chOff x="0" y="0"/>
            <a:chExt cx="1473262" cy="792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73262" cy="79242"/>
            </a:xfrm>
            <a:custGeom>
              <a:avLst/>
              <a:gdLst/>
              <a:ahLst/>
              <a:cxnLst/>
              <a:rect r="r" b="b" t="t" l="l"/>
              <a:pathLst>
                <a:path h="79242" w="1473262">
                  <a:moveTo>
                    <a:pt x="0" y="0"/>
                  </a:moveTo>
                  <a:lnTo>
                    <a:pt x="1473262" y="0"/>
                  </a:lnTo>
                  <a:lnTo>
                    <a:pt x="1473262" y="79242"/>
                  </a:lnTo>
                  <a:lnTo>
                    <a:pt x="0" y="79242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73262" cy="107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387127" y="5855720"/>
            <a:ext cx="7106723" cy="289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Integración entre frontend y backend </a:t>
            </a:r>
          </a:p>
          <a:p>
            <a:pPr algn="l">
              <a:lnSpc>
                <a:spcPts val="2565"/>
              </a:lnSpc>
            </a:pP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 Aunque ambas capas funcion</a:t>
            </a: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a</a:t>
            </a: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n por separado, su integración implicó superar varios puntos: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Configuración de rutas y endpoints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M</a:t>
            </a: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anejo de CORS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Envío y recepción correcta de datos (JSON)</a:t>
            </a:r>
          </a:p>
          <a:p>
            <a:pPr algn="l" marL="395699" indent="-197849" lvl="1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Manejo de errores y respuestas del servidor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5387127" y="8597065"/>
            <a:ext cx="6727812" cy="317116"/>
            <a:chOff x="0" y="0"/>
            <a:chExt cx="1681178" cy="792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81178" cy="79242"/>
            </a:xfrm>
            <a:custGeom>
              <a:avLst/>
              <a:gdLst/>
              <a:ahLst/>
              <a:cxnLst/>
              <a:rect r="r" b="b" t="t" l="l"/>
              <a:pathLst>
                <a:path h="79242" w="1681178">
                  <a:moveTo>
                    <a:pt x="0" y="0"/>
                  </a:moveTo>
                  <a:lnTo>
                    <a:pt x="1681178" y="0"/>
                  </a:lnTo>
                  <a:lnTo>
                    <a:pt x="1681178" y="79242"/>
                  </a:lnTo>
                  <a:lnTo>
                    <a:pt x="0" y="79242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681178" cy="107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36942" y="4643840"/>
            <a:ext cx="10814115" cy="333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5344" indent="-257672" lvl="1">
              <a:lnSpc>
                <a:spcPts val="3341"/>
              </a:lnSpc>
              <a:buFont typeface="Arial"/>
              <a:buChar char="•"/>
            </a:pPr>
            <a:r>
              <a:rPr lang="en-US" sz="2386" spc="14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Arquitectura Cliente–Servidor implementada correctamente.</a:t>
            </a:r>
          </a:p>
          <a:p>
            <a:pPr algn="just" marL="515344" indent="-257672" lvl="1">
              <a:lnSpc>
                <a:spcPts val="3341"/>
              </a:lnSpc>
              <a:buFont typeface="Arial"/>
              <a:buChar char="•"/>
            </a:pPr>
            <a:r>
              <a:rPr lang="en-US" sz="2386" spc="14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Interfaz modular y responsiva creada con React + Tailwind.</a:t>
            </a:r>
          </a:p>
          <a:p>
            <a:pPr algn="just" marL="515344" indent="-257672" lvl="1">
              <a:lnSpc>
                <a:spcPts val="3341"/>
              </a:lnSpc>
              <a:buFont typeface="Arial"/>
              <a:buChar char="•"/>
            </a:pPr>
            <a:r>
              <a:rPr lang="en-US" sz="2386" spc="14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Integración del backend con la base de datos.</a:t>
            </a:r>
          </a:p>
          <a:p>
            <a:pPr algn="just" marL="515344" indent="-257672" lvl="1">
              <a:lnSpc>
                <a:spcPts val="3341"/>
              </a:lnSpc>
              <a:buFont typeface="Arial"/>
              <a:buChar char="•"/>
            </a:pPr>
            <a:r>
              <a:rPr lang="en-US" sz="2386" spc="14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Endpoints configurados y comunicación frontend–backend establecida.</a:t>
            </a:r>
          </a:p>
          <a:p>
            <a:pPr algn="just" marL="515344" indent="-257672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386" spc="14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Proyecto preparado para escalar y agregar nuevas funcionalidades.</a:t>
            </a:r>
          </a:p>
          <a:p>
            <a:pPr algn="just">
              <a:lnSpc>
                <a:spcPts val="3341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469331" y="-761688"/>
            <a:ext cx="15181998" cy="1523377"/>
            <a:chOff x="0" y="0"/>
            <a:chExt cx="5655093" cy="5674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55093" cy="567438"/>
            </a:xfrm>
            <a:custGeom>
              <a:avLst/>
              <a:gdLst/>
              <a:ahLst/>
              <a:cxnLst/>
              <a:rect r="r" b="b" t="t" l="l"/>
              <a:pathLst>
                <a:path h="567438" w="5655093">
                  <a:moveTo>
                    <a:pt x="0" y="0"/>
                  </a:moveTo>
                  <a:lnTo>
                    <a:pt x="5655093" y="0"/>
                  </a:lnTo>
                  <a:lnTo>
                    <a:pt x="5655093" y="567438"/>
                  </a:lnTo>
                  <a:lnTo>
                    <a:pt x="0" y="567438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55093" cy="59601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22160" y="-827516"/>
            <a:ext cx="7283617" cy="6568499"/>
            <a:chOff x="0" y="0"/>
            <a:chExt cx="9711490" cy="8757998"/>
          </a:xfrm>
        </p:grpSpPr>
        <p:sp>
          <p:nvSpPr>
            <p:cNvPr name="Freeform 7" id="7"/>
            <p:cNvSpPr/>
            <p:nvPr/>
          </p:nvSpPr>
          <p:spPr>
            <a:xfrm flipH="false" flipV="false" rot="-10800000">
              <a:off x="0" y="0"/>
              <a:ext cx="9711490" cy="8757998"/>
            </a:xfrm>
            <a:custGeom>
              <a:avLst/>
              <a:gdLst/>
              <a:ahLst/>
              <a:cxnLst/>
              <a:rect r="r" b="b" t="t" l="l"/>
              <a:pathLst>
                <a:path h="8757998" w="9711490">
                  <a:moveTo>
                    <a:pt x="0" y="0"/>
                  </a:moveTo>
                  <a:lnTo>
                    <a:pt x="9711490" y="0"/>
                  </a:lnTo>
                  <a:lnTo>
                    <a:pt x="9711490" y="8757998"/>
                  </a:lnTo>
                  <a:lnTo>
                    <a:pt x="0" y="8757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8" id="8"/>
            <p:cNvSpPr/>
            <p:nvPr/>
          </p:nvSpPr>
          <p:spPr>
            <a:xfrm>
              <a:off x="3542825" y="182157"/>
              <a:ext cx="4651057" cy="4651057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1171484" y="182157"/>
              <a:ext cx="2382254" cy="2382254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939698" y="3466009"/>
            <a:ext cx="14408604" cy="109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5"/>
              </a:lnSpc>
            </a:pPr>
            <a:r>
              <a:rPr lang="en-US" sz="8454" spc="938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ALCANCE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742337" y="9564060"/>
            <a:ext cx="19816820" cy="1232767"/>
            <a:chOff x="0" y="0"/>
            <a:chExt cx="7381503" cy="4591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81504" cy="459190"/>
            </a:xfrm>
            <a:custGeom>
              <a:avLst/>
              <a:gdLst/>
              <a:ahLst/>
              <a:cxnLst/>
              <a:rect r="r" b="b" t="t" l="l"/>
              <a:pathLst>
                <a:path h="459190" w="7381504">
                  <a:moveTo>
                    <a:pt x="0" y="0"/>
                  </a:moveTo>
                  <a:lnTo>
                    <a:pt x="7381504" y="0"/>
                  </a:lnTo>
                  <a:lnTo>
                    <a:pt x="7381504" y="459190"/>
                  </a:lnTo>
                  <a:lnTo>
                    <a:pt x="0" y="45919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381503" cy="48776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348302" y="3776623"/>
            <a:ext cx="0" cy="246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0"/>
              </a:lnSpc>
              <a:spcBef>
                <a:spcPts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9331" y="-761688"/>
            <a:ext cx="15181998" cy="1523377"/>
            <a:chOff x="0" y="0"/>
            <a:chExt cx="5655093" cy="567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55093" cy="567438"/>
            </a:xfrm>
            <a:custGeom>
              <a:avLst/>
              <a:gdLst/>
              <a:ahLst/>
              <a:cxnLst/>
              <a:rect r="r" b="b" t="t" l="l"/>
              <a:pathLst>
                <a:path h="567438" w="5655093">
                  <a:moveTo>
                    <a:pt x="0" y="0"/>
                  </a:moveTo>
                  <a:lnTo>
                    <a:pt x="5655093" y="0"/>
                  </a:lnTo>
                  <a:lnTo>
                    <a:pt x="5655093" y="567438"/>
                  </a:lnTo>
                  <a:lnTo>
                    <a:pt x="0" y="567438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655093" cy="596013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22160" y="-827516"/>
            <a:ext cx="7283617" cy="6568499"/>
            <a:chOff x="0" y="0"/>
            <a:chExt cx="9711490" cy="8757998"/>
          </a:xfrm>
        </p:grpSpPr>
        <p:sp>
          <p:nvSpPr>
            <p:cNvPr name="Freeform 6" id="6"/>
            <p:cNvSpPr/>
            <p:nvPr/>
          </p:nvSpPr>
          <p:spPr>
            <a:xfrm flipH="false" flipV="false" rot="-10800000">
              <a:off x="0" y="0"/>
              <a:ext cx="9711490" cy="8757998"/>
            </a:xfrm>
            <a:custGeom>
              <a:avLst/>
              <a:gdLst/>
              <a:ahLst/>
              <a:cxnLst/>
              <a:rect r="r" b="b" t="t" l="l"/>
              <a:pathLst>
                <a:path h="8757998" w="9711490">
                  <a:moveTo>
                    <a:pt x="0" y="0"/>
                  </a:moveTo>
                  <a:lnTo>
                    <a:pt x="9711490" y="0"/>
                  </a:lnTo>
                  <a:lnTo>
                    <a:pt x="9711490" y="8757998"/>
                  </a:lnTo>
                  <a:lnTo>
                    <a:pt x="0" y="8757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7" id="7"/>
            <p:cNvSpPr/>
            <p:nvPr/>
          </p:nvSpPr>
          <p:spPr>
            <a:xfrm>
              <a:off x="3542825" y="182157"/>
              <a:ext cx="4651057" cy="4651057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1171484" y="182157"/>
              <a:ext cx="2382254" cy="2382254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742337" y="9564060"/>
            <a:ext cx="19816820" cy="1232767"/>
            <a:chOff x="0" y="0"/>
            <a:chExt cx="7381503" cy="4591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81504" cy="459190"/>
            </a:xfrm>
            <a:custGeom>
              <a:avLst/>
              <a:gdLst/>
              <a:ahLst/>
              <a:cxnLst/>
              <a:rect r="r" b="b" t="t" l="l"/>
              <a:pathLst>
                <a:path h="459190" w="7381504">
                  <a:moveTo>
                    <a:pt x="0" y="0"/>
                  </a:moveTo>
                  <a:lnTo>
                    <a:pt x="7381504" y="0"/>
                  </a:lnTo>
                  <a:lnTo>
                    <a:pt x="7381504" y="459190"/>
                  </a:lnTo>
                  <a:lnTo>
                    <a:pt x="0" y="45919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381503" cy="48776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691651" y="5620472"/>
            <a:ext cx="4042031" cy="3637828"/>
          </a:xfrm>
          <a:custGeom>
            <a:avLst/>
            <a:gdLst/>
            <a:ahLst/>
            <a:cxnLst/>
            <a:rect r="r" b="b" t="t" l="l"/>
            <a:pathLst>
              <a:path h="3637828" w="4042031">
                <a:moveTo>
                  <a:pt x="0" y="0"/>
                </a:moveTo>
                <a:lnTo>
                  <a:pt x="4042031" y="0"/>
                </a:lnTo>
                <a:lnTo>
                  <a:pt x="4042031" y="3637828"/>
                </a:lnTo>
                <a:lnTo>
                  <a:pt x="0" y="3637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837762"/>
            <a:ext cx="8681051" cy="4177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5344" indent="-257672" lvl="1">
              <a:lnSpc>
                <a:spcPts val="3341"/>
              </a:lnSpc>
              <a:buFont typeface="Arial"/>
              <a:buChar char="•"/>
            </a:pPr>
            <a:r>
              <a:rPr lang="en-US" sz="2386" spc="14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Mejora en la organización del código</a:t>
            </a:r>
          </a:p>
          <a:p>
            <a:pPr algn="just">
              <a:lnSpc>
                <a:spcPts val="3341"/>
              </a:lnSpc>
            </a:pPr>
            <a:r>
              <a:rPr lang="en-US" sz="2386" spc="14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Actualmente la estructura del proyecto funciona, pero se puede optimizar</a:t>
            </a:r>
          </a:p>
          <a:p>
            <a:pPr algn="just">
              <a:lnSpc>
                <a:spcPts val="3341"/>
              </a:lnSpc>
            </a:pPr>
          </a:p>
          <a:p>
            <a:pPr algn="just" marL="515344" indent="-257672" lvl="1">
              <a:lnSpc>
                <a:spcPts val="3341"/>
              </a:lnSpc>
              <a:buFont typeface="Arial"/>
              <a:buChar char="•"/>
            </a:pPr>
            <a:r>
              <a:rPr lang="en-US" sz="2386" spc="14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Documentación más completa</a:t>
            </a:r>
          </a:p>
          <a:p>
            <a:pPr algn="just">
              <a:lnSpc>
                <a:spcPts val="3341"/>
              </a:lnSpc>
            </a:pPr>
            <a:r>
              <a:rPr lang="en-US" sz="2386" spc="14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Crear documentación clara y detallada lo cual facilita la colaboración y reduce errores durante la incorporación de nuevas funcionalidades.</a:t>
            </a:r>
          </a:p>
          <a:p>
            <a:pPr algn="just">
              <a:lnSpc>
                <a:spcPts val="3341"/>
              </a:lnSpc>
              <a:spcBef>
                <a:spcPct val="0"/>
              </a:spcBef>
            </a:pPr>
          </a:p>
          <a:p>
            <a:pPr algn="just" marL="515344" indent="-257672" lvl="1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386" spc="140">
                <a:solidFill>
                  <a:srgbClr val="262262"/>
                </a:solidFill>
                <a:latin typeface="Helios"/>
                <a:ea typeface="Helios"/>
                <a:cs typeface="Helios"/>
                <a:sym typeface="Helios"/>
              </a:rPr>
              <a:t>Desarrollo de componentes reutilizables avanzados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39698" y="1219200"/>
            <a:ext cx="14408604" cy="109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5"/>
              </a:lnSpc>
            </a:pPr>
            <a:r>
              <a:rPr lang="en-US" sz="8454" spc="938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OPORTUNIDADES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2375" y="908339"/>
            <a:ext cx="12219360" cy="106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8167" spc="906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CONCLUSIONES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22375" y="3880672"/>
            <a:ext cx="459105" cy="450417"/>
            <a:chOff x="0" y="0"/>
            <a:chExt cx="139114" cy="1364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114" cy="136482"/>
            </a:xfrm>
            <a:custGeom>
              <a:avLst/>
              <a:gdLst/>
              <a:ahLst/>
              <a:cxnLst/>
              <a:rect r="r" b="b" t="t" l="l"/>
              <a:pathLst>
                <a:path h="136482" w="139114">
                  <a:moveTo>
                    <a:pt x="0" y="0"/>
                  </a:moveTo>
                  <a:lnTo>
                    <a:pt x="139114" y="0"/>
                  </a:lnTo>
                  <a:lnTo>
                    <a:pt x="139114" y="136482"/>
                  </a:lnTo>
                  <a:lnTo>
                    <a:pt x="0" y="136482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39114" cy="165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2262"/>
                  </a:solidFill>
                  <a:latin typeface="Bree Serif"/>
                  <a:ea typeface="Bree Serif"/>
                  <a:cs typeface="Bree Serif"/>
                  <a:sym typeface="Bree Serif"/>
                </a:rPr>
                <a:t>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22375" y="5058270"/>
            <a:ext cx="459105" cy="450417"/>
            <a:chOff x="0" y="0"/>
            <a:chExt cx="139114" cy="1364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14" cy="136482"/>
            </a:xfrm>
            <a:custGeom>
              <a:avLst/>
              <a:gdLst/>
              <a:ahLst/>
              <a:cxnLst/>
              <a:rect r="r" b="b" t="t" l="l"/>
              <a:pathLst>
                <a:path h="136482" w="139114">
                  <a:moveTo>
                    <a:pt x="0" y="0"/>
                  </a:moveTo>
                  <a:lnTo>
                    <a:pt x="139114" y="0"/>
                  </a:lnTo>
                  <a:lnTo>
                    <a:pt x="139114" y="136482"/>
                  </a:lnTo>
                  <a:lnTo>
                    <a:pt x="0" y="136482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39114" cy="165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2262"/>
                  </a:solidFill>
                  <a:latin typeface="Bree Serif"/>
                  <a:ea typeface="Bree Serif"/>
                  <a:cs typeface="Bree Serif"/>
                  <a:sym typeface="Bree Serif"/>
                </a:rPr>
                <a:t>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2375" y="6235869"/>
            <a:ext cx="459105" cy="450417"/>
            <a:chOff x="0" y="0"/>
            <a:chExt cx="139114" cy="1364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114" cy="136482"/>
            </a:xfrm>
            <a:custGeom>
              <a:avLst/>
              <a:gdLst/>
              <a:ahLst/>
              <a:cxnLst/>
              <a:rect r="r" b="b" t="t" l="l"/>
              <a:pathLst>
                <a:path h="136482" w="139114">
                  <a:moveTo>
                    <a:pt x="0" y="0"/>
                  </a:moveTo>
                  <a:lnTo>
                    <a:pt x="139114" y="0"/>
                  </a:lnTo>
                  <a:lnTo>
                    <a:pt x="139114" y="136482"/>
                  </a:lnTo>
                  <a:lnTo>
                    <a:pt x="0" y="136482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39114" cy="165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2262"/>
                  </a:solidFill>
                  <a:latin typeface="Bree Serif"/>
                  <a:ea typeface="Bree Serif"/>
                  <a:cs typeface="Bree Serif"/>
                  <a:sym typeface="Bree Serif"/>
                </a:rPr>
                <a:t>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2375" y="7413468"/>
            <a:ext cx="459105" cy="450417"/>
            <a:chOff x="0" y="0"/>
            <a:chExt cx="139114" cy="1364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114" cy="136482"/>
            </a:xfrm>
            <a:custGeom>
              <a:avLst/>
              <a:gdLst/>
              <a:ahLst/>
              <a:cxnLst/>
              <a:rect r="r" b="b" t="t" l="l"/>
              <a:pathLst>
                <a:path h="136482" w="139114">
                  <a:moveTo>
                    <a:pt x="0" y="0"/>
                  </a:moveTo>
                  <a:lnTo>
                    <a:pt x="139114" y="0"/>
                  </a:lnTo>
                  <a:lnTo>
                    <a:pt x="139114" y="136482"/>
                  </a:lnTo>
                  <a:lnTo>
                    <a:pt x="0" y="136482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39114" cy="165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2262"/>
                  </a:solidFill>
                  <a:latin typeface="Bree Serif"/>
                  <a:ea typeface="Bree Serif"/>
                  <a:cs typeface="Bree Serif"/>
                  <a:sym typeface="Bree Serif"/>
                </a:rPr>
                <a:t>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362875" y="-393867"/>
            <a:ext cx="2895663" cy="8807982"/>
            <a:chOff x="0" y="0"/>
            <a:chExt cx="1078596" cy="32808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596" cy="3280857"/>
            </a:xfrm>
            <a:custGeom>
              <a:avLst/>
              <a:gdLst/>
              <a:ahLst/>
              <a:cxnLst/>
              <a:rect r="r" b="b" t="t" l="l"/>
              <a:pathLst>
                <a:path h="3280857" w="1078596">
                  <a:moveTo>
                    <a:pt x="0" y="0"/>
                  </a:moveTo>
                  <a:lnTo>
                    <a:pt x="1078596" y="0"/>
                  </a:lnTo>
                  <a:lnTo>
                    <a:pt x="1078596" y="3280857"/>
                  </a:lnTo>
                  <a:lnTo>
                    <a:pt x="0" y="3280857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78596" cy="330943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true" rot="-10800000">
            <a:off x="13637201" y="4494300"/>
            <a:ext cx="4894047" cy="6230847"/>
          </a:xfrm>
          <a:custGeom>
            <a:avLst/>
            <a:gdLst/>
            <a:ahLst/>
            <a:cxnLst/>
            <a:rect r="r" b="b" t="t" l="l"/>
            <a:pathLst>
              <a:path h="6230847" w="4894047">
                <a:moveTo>
                  <a:pt x="0" y="6230847"/>
                </a:moveTo>
                <a:lnTo>
                  <a:pt x="4894047" y="6230847"/>
                </a:lnTo>
                <a:lnTo>
                  <a:pt x="4894047" y="0"/>
                </a:lnTo>
                <a:lnTo>
                  <a:pt x="0" y="0"/>
                </a:lnTo>
                <a:lnTo>
                  <a:pt x="0" y="62308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22375" y="2150749"/>
            <a:ext cx="13280618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El desarrollo de este proyecto nos permitió aplicar conocimientos prácticos en la construcción de aplicaciones modernas utilizando React, TypeScript, Vite y Tailwind CSS, integrando además un backend independiente para manejar la lógica y los datos de la aplicación.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A lo largo del proceso, logramos: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72668" y="3934748"/>
            <a:ext cx="9923711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Implementar una arquitectura Cliente–Servidor, separando claramente frontend y backend.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72668" y="4945659"/>
            <a:ext cx="12333225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Construir una interfaz modular y responsiva, basada en componentes reutilizables, que facilita la escalabilidad y el mantenimiento.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72668" y="6123257"/>
            <a:ext cx="11843447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Superar dificultades técnicas relacionadas con la conexión a la base de datos, la integración frontend-backend y la curva de aprendizaje de Tailwind CSS.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72668" y="7303722"/>
            <a:ext cx="11771502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Establecer una comunicación efectiva mediante APIs y configurar rutas y endpoints funcionales, garantizando que el frontend y backend trabajen coordinadamente.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7410" y="9559636"/>
            <a:ext cx="16813858" cy="2182091"/>
            <a:chOff x="0" y="0"/>
            <a:chExt cx="62629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62940" cy="812800"/>
            </a:xfrm>
            <a:custGeom>
              <a:avLst/>
              <a:gdLst/>
              <a:ahLst/>
              <a:cxnLst/>
              <a:rect r="r" b="b" t="t" l="l"/>
              <a:pathLst>
                <a:path h="812800" w="6262940">
                  <a:moveTo>
                    <a:pt x="0" y="0"/>
                  </a:moveTo>
                  <a:lnTo>
                    <a:pt x="6262940" y="0"/>
                  </a:lnTo>
                  <a:lnTo>
                    <a:pt x="626294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262940" cy="84137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14450" y="3794170"/>
            <a:ext cx="5490343" cy="6990020"/>
          </a:xfrm>
          <a:custGeom>
            <a:avLst/>
            <a:gdLst/>
            <a:ahLst/>
            <a:cxnLst/>
            <a:rect r="r" b="b" t="t" l="l"/>
            <a:pathLst>
              <a:path h="6990020" w="5490343">
                <a:moveTo>
                  <a:pt x="0" y="0"/>
                </a:moveTo>
                <a:lnTo>
                  <a:pt x="5490343" y="0"/>
                </a:lnTo>
                <a:lnTo>
                  <a:pt x="5490343" y="6990020"/>
                </a:lnTo>
                <a:lnTo>
                  <a:pt x="0" y="699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508079" y="-1454727"/>
            <a:ext cx="15181998" cy="2182091"/>
            <a:chOff x="0" y="0"/>
            <a:chExt cx="565509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55093" cy="812800"/>
            </a:xfrm>
            <a:custGeom>
              <a:avLst/>
              <a:gdLst/>
              <a:ahLst/>
              <a:cxnLst/>
              <a:rect r="r" b="b" t="t" l="l"/>
              <a:pathLst>
                <a:path h="812800" w="5655093">
                  <a:moveTo>
                    <a:pt x="0" y="0"/>
                  </a:moveTo>
                  <a:lnTo>
                    <a:pt x="5655093" y="0"/>
                  </a:lnTo>
                  <a:lnTo>
                    <a:pt x="565509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655093" cy="84137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23127" y="-462348"/>
            <a:ext cx="7283617" cy="6568499"/>
            <a:chOff x="0" y="0"/>
            <a:chExt cx="9711490" cy="8757998"/>
          </a:xfrm>
        </p:grpSpPr>
        <p:sp>
          <p:nvSpPr>
            <p:cNvPr name="Freeform 10" id="10"/>
            <p:cNvSpPr/>
            <p:nvPr/>
          </p:nvSpPr>
          <p:spPr>
            <a:xfrm flipH="false" flipV="false" rot="-10800000">
              <a:off x="0" y="0"/>
              <a:ext cx="9711490" cy="8757998"/>
            </a:xfrm>
            <a:custGeom>
              <a:avLst/>
              <a:gdLst/>
              <a:ahLst/>
              <a:cxnLst/>
              <a:rect r="r" b="b" t="t" l="l"/>
              <a:pathLst>
                <a:path h="8757998" w="9711490">
                  <a:moveTo>
                    <a:pt x="0" y="0"/>
                  </a:moveTo>
                  <a:lnTo>
                    <a:pt x="9711490" y="0"/>
                  </a:lnTo>
                  <a:lnTo>
                    <a:pt x="9711490" y="8757998"/>
                  </a:lnTo>
                  <a:lnTo>
                    <a:pt x="0" y="8757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1" id="11"/>
            <p:cNvSpPr/>
            <p:nvPr/>
          </p:nvSpPr>
          <p:spPr>
            <a:xfrm>
              <a:off x="3542825" y="182157"/>
              <a:ext cx="4651057" cy="4651057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1171484" y="182157"/>
              <a:ext cx="2382254" cy="2382254"/>
            </a:xfrm>
            <a:prstGeom prst="line">
              <a:avLst/>
            </a:prstGeom>
            <a:ln cap="flat" w="87925">
              <a:solidFill>
                <a:srgbClr val="F4F5F6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200114" y="3290342"/>
            <a:ext cx="10266191" cy="9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4"/>
              </a:lnSpc>
            </a:pPr>
            <a:r>
              <a:rPr lang="en-US" sz="7390" spc="820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MUCHAS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17961" y="4323337"/>
            <a:ext cx="12653251" cy="198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30"/>
              </a:lnSpc>
            </a:pPr>
            <a:r>
              <a:rPr lang="en-US" sz="14782" spc="1640">
                <a:solidFill>
                  <a:srgbClr val="262262"/>
                </a:solidFill>
                <a:latin typeface="Bree Serif"/>
                <a:ea typeface="Bree Serif"/>
                <a:cs typeface="Bree Serif"/>
                <a:sym typeface="Bree Serif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DAG6ZbuMyCs</dc:identifier>
  <dcterms:modified xsi:type="dcterms:W3CDTF">2011-08-01T06:04:30Z</dcterms:modified>
  <cp:revision>1</cp:revision>
  <dc:title>TURIN CLEAN</dc:title>
</cp:coreProperties>
</file>